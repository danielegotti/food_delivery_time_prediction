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336" r:id="rId3"/>
    <p:sldId id="262" r:id="rId4"/>
    <p:sldId id="317" r:id="rId5"/>
    <p:sldId id="263" r:id="rId6"/>
    <p:sldId id="264" r:id="rId7"/>
    <p:sldId id="270" r:id="rId8"/>
    <p:sldId id="271" r:id="rId9"/>
    <p:sldId id="318" r:id="rId10"/>
    <p:sldId id="319" r:id="rId11"/>
    <p:sldId id="320" r:id="rId12"/>
    <p:sldId id="272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40" r:id="rId28"/>
    <p:sldId id="335" r:id="rId29"/>
    <p:sldId id="337" r:id="rId30"/>
    <p:sldId id="339" r:id="rId31"/>
    <p:sldId id="338" r:id="rId32"/>
    <p:sldId id="341" r:id="rId33"/>
    <p:sldId id="342" r:id="rId34"/>
    <p:sldId id="343" r:id="rId35"/>
    <p:sldId id="344" r:id="rId36"/>
    <p:sldId id="345" r:id="rId37"/>
    <p:sldId id="346" r:id="rId38"/>
    <p:sldId id="347" r:id="rId39"/>
    <p:sldId id="348" r:id="rId40"/>
    <p:sldId id="352" r:id="rId41"/>
    <p:sldId id="350" r:id="rId42"/>
    <p:sldId id="349" r:id="rId43"/>
    <p:sldId id="351" r:id="rId44"/>
    <p:sldId id="353" r:id="rId4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 autoAdjust="0"/>
    <p:restoredTop sz="94660"/>
  </p:normalViewPr>
  <p:slideViewPr>
    <p:cSldViewPr>
      <p:cViewPr varScale="1">
        <p:scale>
          <a:sx n="90" d="100"/>
          <a:sy n="90" d="100"/>
        </p:scale>
        <p:origin x="46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F3C78-BFF9-4137-8833-13E3D0B09D8B}" type="datetimeFigureOut">
              <a:rPr lang="it-IT" smtClean="0"/>
              <a:t>22/06/2025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8F9A5-25D9-4BE4-92E4-0A5AF102D3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6927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000" y="3"/>
            <a:ext cx="2564130" cy="127000"/>
          </a:xfrm>
          <a:custGeom>
            <a:avLst/>
            <a:gdLst/>
            <a:ahLst/>
            <a:cxnLst/>
            <a:rect l="l" t="t" r="r" b="b"/>
            <a:pathLst>
              <a:path w="2564129" h="127000">
                <a:moveTo>
                  <a:pt x="2563990" y="0"/>
                </a:moveTo>
                <a:lnTo>
                  <a:pt x="0" y="0"/>
                </a:lnTo>
                <a:lnTo>
                  <a:pt x="0" y="126996"/>
                </a:lnTo>
                <a:lnTo>
                  <a:pt x="2563990" y="126996"/>
                </a:lnTo>
                <a:lnTo>
                  <a:pt x="2563990" y="0"/>
                </a:lnTo>
                <a:close/>
              </a:path>
            </a:pathLst>
          </a:custGeom>
          <a:solidFill>
            <a:srgbClr val="CA674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96000"/>
            <a:ext cx="12191998" cy="761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1547" y="65532"/>
            <a:ext cx="7619763" cy="10175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4024" y="2064003"/>
            <a:ext cx="9448165" cy="2605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denkuznetz/food-delivery-time-predictio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ibicocca.unimib.it/qual-e-la-situazione-del-food-delivery-in-italia" TargetMode="External"/><Relationship Id="rId2" Type="http://schemas.openxmlformats.org/officeDocument/2006/relationships/hyperlink" Target="https://www.kaggle.com/datasets/denkuznetz/food-delivery-time-predic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anieleGotti/Food_Delivery_Time_Predi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8" cy="68516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05154" y="3021076"/>
            <a:ext cx="343444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1200" spc="-10" noProof="0" dirty="0">
                <a:solidFill>
                  <a:srgbClr val="426EB0"/>
                </a:solidFill>
                <a:latin typeface="Franklin Gothic Medium"/>
                <a:cs typeface="Franklin Gothic Medium"/>
              </a:rPr>
              <a:t>Students</a:t>
            </a:r>
            <a:endParaRPr lang="en-GB" sz="1200" noProof="0" dirty="0">
              <a:latin typeface="Franklin Gothic Medium"/>
              <a:cs typeface="Franklin Gothic Medium"/>
            </a:endParaRPr>
          </a:p>
          <a:p>
            <a:pPr marL="12700"/>
            <a:r>
              <a:rPr lang="en-GB" sz="1600" noProof="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Gotti Daniele - 1079011</a:t>
            </a:r>
            <a:endParaRPr lang="en-GB" sz="1600" noProof="0" dirty="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07347" y="2743200"/>
            <a:ext cx="2289253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GB" sz="1200" noProof="0" dirty="0">
                <a:solidFill>
                  <a:srgbClr val="C96643"/>
                </a:solidFill>
                <a:latin typeface="Franklin Gothic Medium"/>
                <a:cs typeface="Franklin Gothic Medium"/>
              </a:rPr>
              <a:t>Computer science engineering</a:t>
            </a:r>
            <a:endParaRPr lang="en-GB" sz="1200" noProof="0" dirty="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53566" y="2560827"/>
            <a:ext cx="6456190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200" b="0" noProof="0" dirty="0">
                <a:solidFill>
                  <a:srgbClr val="FFFFFF"/>
                </a:solidFill>
                <a:latin typeface="Arial Black"/>
                <a:cs typeface="Arial Black"/>
              </a:rPr>
              <a:t>Statistical Learning:</a:t>
            </a:r>
            <a:br>
              <a:rPr lang="en-GB" sz="3200" b="0" noProof="0" dirty="0">
                <a:solidFill>
                  <a:srgbClr val="FFFFFF"/>
                </a:solidFill>
                <a:latin typeface="Arial Black"/>
                <a:cs typeface="Arial Black"/>
              </a:rPr>
            </a:br>
            <a:r>
              <a:rPr lang="en-GB" sz="3200" b="0" noProof="0" dirty="0">
                <a:solidFill>
                  <a:srgbClr val="FFFFFF"/>
                </a:solidFill>
                <a:latin typeface="Arial Black"/>
                <a:cs typeface="Arial Black"/>
              </a:rPr>
              <a:t>Prediction of</a:t>
            </a:r>
            <a:br>
              <a:rPr lang="en-GB" sz="3200" b="0" noProof="0" dirty="0">
                <a:solidFill>
                  <a:srgbClr val="FFFFFF"/>
                </a:solidFill>
                <a:latin typeface="Arial Black"/>
                <a:cs typeface="Arial Black"/>
              </a:rPr>
            </a:br>
            <a:r>
              <a:rPr lang="en-GB" sz="3600" b="0" noProof="0" dirty="0">
                <a:solidFill>
                  <a:srgbClr val="FFFFFF"/>
                </a:solidFill>
                <a:latin typeface="Arial Black"/>
                <a:cs typeface="Arial Black"/>
              </a:rPr>
              <a:t>food</a:t>
            </a:r>
            <a:r>
              <a:rPr lang="en-GB" sz="3600" b="0" noProof="0" dirty="0">
                <a:solidFill>
                  <a:srgbClr val="FFFFFF"/>
                </a:solidFill>
                <a:latin typeface="Arial Black"/>
              </a:rPr>
              <a:t> delivery times</a:t>
            </a:r>
            <a:endParaRPr lang="en-GB" sz="3200" b="0" noProof="0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3566" y="4343400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noProof="0" dirty="0">
                <a:solidFill>
                  <a:srgbClr val="FFFFFF"/>
                </a:solidFill>
                <a:latin typeface="Arial Black"/>
                <a:cs typeface="Arial Black"/>
              </a:rPr>
              <a:t>A.Y. 2024/2025</a:t>
            </a:r>
            <a:endParaRPr lang="en-GB" sz="2400" noProof="0" dirty="0">
              <a:latin typeface="Arial Black"/>
              <a:cs typeface="Arial Black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F36CE58-AAFE-238A-54E3-4AE5856774A5}"/>
              </a:ext>
            </a:extLst>
          </p:cNvPr>
          <p:cNvSpPr txBox="1"/>
          <p:nvPr/>
        </p:nvSpPr>
        <p:spPr>
          <a:xfrm>
            <a:off x="8605154" y="3468684"/>
            <a:ext cx="3434445" cy="25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lang="en-GB" sz="1600" noProof="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Mazzoleni Gabriele - 1079514</a:t>
            </a:r>
            <a:endParaRPr lang="en-GB" sz="1600" noProof="0" dirty="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BF1D-1F5E-BF87-3774-E0C37D0E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649BF47E-C162-179C-D3F1-281638D0D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Problem setting – food delivery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610EBCA-39BF-8FE7-E254-D5B99F97EE2E}"/>
              </a:ext>
            </a:extLst>
          </p:cNvPr>
          <p:cNvSpPr txBox="1"/>
          <p:nvPr/>
        </p:nvSpPr>
        <p:spPr>
          <a:xfrm>
            <a:off x="762000" y="1676400"/>
            <a:ext cx="5029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Food delivery is a market that has become a key component of the global economic and social system.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It grew massively in importance in 2020 – 2021 due to the spread of COVID-19, reaching over 1 billion € of market value in Italy in 2021.</a:t>
            </a:r>
          </a:p>
        </p:txBody>
      </p:sp>
      <p:pic>
        <p:nvPicPr>
          <p:cNvPr id="3" name="Immagine 2" descr="Immagine che contiene ruota, veicolo, pneumatico, Veicolo terrestre&#10;&#10;Il contenuto generato dall'IA potrebbe non essere corretto.">
            <a:extLst>
              <a:ext uri="{FF2B5EF4-FFF2-40B4-BE49-F238E27FC236}">
                <a16:creationId xmlns:a16="http://schemas.microsoft.com/office/drawing/2014/main" id="{809FAA8E-6A88-F8B3-1C91-2CE0CC412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642" y="1844043"/>
            <a:ext cx="4023357" cy="402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0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78864-40E2-AE35-E227-0E4BF1D82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0899A537-9AFA-917F-62DE-A21FD9521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Problem setting – food delivery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53E658-10AA-ABDE-4303-1B3984A036ED}"/>
              </a:ext>
            </a:extLst>
          </p:cNvPr>
          <p:cNvSpPr txBox="1"/>
          <p:nvPr/>
        </p:nvSpPr>
        <p:spPr>
          <a:xfrm>
            <a:off x="762000" y="1676400"/>
            <a:ext cx="10287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In the current market for food delivery, full of already established services, it is paramount to find new ways to differentiate, to ensure a wider range of consumers.</a:t>
            </a:r>
          </a:p>
        </p:txBody>
      </p:sp>
      <p:pic>
        <p:nvPicPr>
          <p:cNvPr id="3" name="Immagine 2" descr="Immagine che contiene Elementi grafici, grafica, schermata, logo&#10;&#10;Il contenuto generato dall'IA potrebbe non essere corretto.">
            <a:extLst>
              <a:ext uri="{FF2B5EF4-FFF2-40B4-BE49-F238E27FC236}">
                <a16:creationId xmlns:a16="http://schemas.microsoft.com/office/drawing/2014/main" id="{9099EFAC-A1EC-67F2-4C65-109AB7B58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2876729"/>
            <a:ext cx="2631649" cy="2552700"/>
          </a:xfrm>
          <a:prstGeom prst="rect">
            <a:avLst/>
          </a:prstGeom>
        </p:spPr>
      </p:pic>
      <p:pic>
        <p:nvPicPr>
          <p:cNvPr id="6" name="Immagine 5" descr="Immagine che contiene Carattere, logo, Elementi grafici, testo&#10;&#10;Il contenuto generato dall'IA potrebbe non essere corretto.">
            <a:extLst>
              <a:ext uri="{FF2B5EF4-FFF2-40B4-BE49-F238E27FC236}">
                <a16:creationId xmlns:a16="http://schemas.microsoft.com/office/drawing/2014/main" id="{1E2347B5-D8DD-97A7-240E-F2ECBAEA4D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92"/>
          <a:stretch>
            <a:fillRect/>
          </a:stretch>
        </p:blipFill>
        <p:spPr>
          <a:xfrm>
            <a:off x="899333" y="2970815"/>
            <a:ext cx="3268133" cy="1601185"/>
          </a:xfrm>
          <a:prstGeom prst="rect">
            <a:avLst/>
          </a:prstGeom>
        </p:spPr>
      </p:pic>
      <p:pic>
        <p:nvPicPr>
          <p:cNvPr id="9" name="Immagine 8" descr="Immagine che contiene testo, Carattere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46E38BEB-388D-7674-60D2-A4DD7EE936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59"/>
          <a:stretch>
            <a:fillRect/>
          </a:stretch>
        </p:blipFill>
        <p:spPr>
          <a:xfrm>
            <a:off x="7239000" y="3967162"/>
            <a:ext cx="3784601" cy="197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95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85338-6525-4DD0-C0C3-CBD5ED3E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8E7EE2E6-A509-5E93-6F29-C9AEF17E2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0010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Objective of this analysis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4D7D8CE-E4FD-5B8D-E44E-AF7502A9432F}"/>
              </a:ext>
            </a:extLst>
          </p:cNvPr>
          <p:cNvSpPr txBox="1"/>
          <p:nvPr/>
        </p:nvSpPr>
        <p:spPr>
          <a:xfrm>
            <a:off x="762000" y="1524000"/>
            <a:ext cx="10668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comforts for customers = more customers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oday, quickness and timeliness in delivery is considered highly important</a:t>
            </a:r>
          </a:p>
          <a:p>
            <a:pPr algn="just"/>
            <a:endParaRPr lang="en-GB" sz="24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4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 : </a:t>
            </a:r>
            <a:r>
              <a:rPr lang="en-GB" sz="24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statistical model to accurately predict delivery times and implement it into an application.</a:t>
            </a:r>
          </a:p>
        </p:txBody>
      </p:sp>
      <p:pic>
        <p:nvPicPr>
          <p:cNvPr id="6" name="Immagine 5" descr="Immagine che contiene logo, simbolo, Elementi grafici, clipart&#10;&#10;Il contenuto generato dall'IA potrebbe non essere corretto.">
            <a:extLst>
              <a:ext uri="{FF2B5EF4-FFF2-40B4-BE49-F238E27FC236}">
                <a16:creationId xmlns:a16="http://schemas.microsoft.com/office/drawing/2014/main" id="{B5DD4427-753B-4C5F-3D72-64F142CF6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5" t="16457" r="7692" b="13275"/>
          <a:stretch>
            <a:fillRect/>
          </a:stretch>
        </p:blipFill>
        <p:spPr>
          <a:xfrm>
            <a:off x="8153400" y="3420533"/>
            <a:ext cx="32766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31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6DD7-CB4C-229A-B7FD-70BB9617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99712B1D-EFE0-7CDD-E0AB-7BFE0B1B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1125200" cy="1077218"/>
          </a:xfrm>
        </p:spPr>
        <p:txBody>
          <a:bodyPr/>
          <a:lstStyle/>
          <a:p>
            <a:r>
              <a:rPr lang="en-GB" b="0" noProof="0" dirty="0">
                <a:latin typeface="Arial" panose="020B0604020202020204" pitchFamily="34" charset="0"/>
                <a:cs typeface="Arial" panose="020B0604020202020204" pitchFamily="34" charset="0"/>
              </a:rPr>
              <a:t>Selected dataset:</a:t>
            </a:r>
            <a:br>
              <a:rPr lang="en-GB" b="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Food Delivery Time Prediction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5484A2D-16B7-6415-0D06-5025D445072D}"/>
              </a:ext>
            </a:extLst>
          </p:cNvPr>
          <p:cNvSpPr txBox="1"/>
          <p:nvPr/>
        </p:nvSpPr>
        <p:spPr>
          <a:xfrm>
            <a:off x="762000" y="2305615"/>
            <a:ext cx="11277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400" noProof="0" dirty="0"/>
              <a:t>Dataset designed for predicting food delivery times based on various influencing factors.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GB" sz="2400" noProof="0" dirty="0"/>
              <a:t>It contains simulated data based on various real-world factors. 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endParaRPr lang="en-GB" sz="24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400" i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 link: </a:t>
            </a:r>
            <a:r>
              <a:rPr lang="en-GB" u="sng" noProof="0" dirty="0">
                <a:hlinkClick r:id="rId2"/>
              </a:rPr>
              <a:t>https://www.kaggle.com/datasets/denkuznetz/food-delivery-time-prediction</a:t>
            </a:r>
            <a:endParaRPr lang="en-GB" i="1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379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0FCE6-4B42-BC86-47F0-7B27A62D6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D0E91C51-1B49-16F9-67F1-522B8F2A3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5181599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Dataset Variables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0F7065E-3178-3366-BB54-AAE51D54C035}"/>
              </a:ext>
            </a:extLst>
          </p:cNvPr>
          <p:cNvSpPr txBox="1"/>
          <p:nvPr/>
        </p:nvSpPr>
        <p:spPr>
          <a:xfrm>
            <a:off x="762000" y="1219200"/>
            <a:ext cx="112776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Order ID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 Unique identifier for each order (unused, irrelevant)</a:t>
            </a:r>
          </a:p>
          <a:p>
            <a:pPr marL="342900" indent="-342900" algn="l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Distance (km)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 The order delivery distance </a:t>
            </a:r>
          </a:p>
          <a:p>
            <a:pPr marL="342900" indent="-342900" algn="l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Weather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 Weather conditions during the delivery</a:t>
            </a:r>
          </a:p>
          <a:p>
            <a:pPr marL="342900" indent="-342900" algn="l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Traffic Level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 Traffic conditions</a:t>
            </a:r>
          </a:p>
          <a:p>
            <a:pPr marL="342900" indent="-342900" algn="l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Time of Day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 The time when the delivery took place</a:t>
            </a:r>
          </a:p>
          <a:p>
            <a:pPr marL="342900" indent="-342900" algn="l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Vehicle Type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 Type of vehicle used for delivery</a:t>
            </a:r>
          </a:p>
          <a:p>
            <a:pPr marL="342900" indent="-342900" algn="l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Preparation Time (min)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 The time required to prepare the order</a:t>
            </a:r>
          </a:p>
          <a:p>
            <a:pPr marL="342900" indent="-342900" algn="l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Courier Experience (years)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 Experience of the courier</a:t>
            </a:r>
          </a:p>
          <a:p>
            <a:pPr marL="342900" indent="-342900" algn="l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u="sng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Delivery Time (min)</a:t>
            </a:r>
            <a:r>
              <a:rPr lang="en-GB" sz="24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total delivery time (target variable)</a:t>
            </a:r>
          </a:p>
        </p:txBody>
      </p:sp>
    </p:spTree>
    <p:extLst>
      <p:ext uri="{BB962C8B-B14F-4D97-AF65-F5344CB8AC3E}">
        <p14:creationId xmlns:p14="http://schemas.microsoft.com/office/powerpoint/2010/main" val="1551060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BB51-5901-DD53-B6B8-430FF5390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127E1D9-4C59-A4EC-B039-89833455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5181599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Preliminary analysis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CD7E905-AA1C-4F44-D113-A9F64BC356BE}"/>
              </a:ext>
            </a:extLst>
          </p:cNvPr>
          <p:cNvSpPr txBox="1"/>
          <p:nvPr/>
        </p:nvSpPr>
        <p:spPr>
          <a:xfrm>
            <a:off x="762000" y="1905000"/>
            <a:ext cx="10287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dataset contained </a:t>
            </a: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1000 </a:t>
            </a:r>
            <a:r>
              <a:rPr lang="en-GB" sz="2400" b="1" noProof="0" dirty="0"/>
              <a:t>rows</a:t>
            </a:r>
            <a:r>
              <a:rPr lang="en-GB" sz="2400" noProof="0" dirty="0"/>
              <a:t>, reduced to </a:t>
            </a:r>
            <a:r>
              <a:rPr lang="en-GB" sz="2400" b="1" noProof="0" dirty="0"/>
              <a:t>883</a:t>
            </a:r>
            <a:r>
              <a:rPr lang="en-GB" sz="2400" noProof="0" dirty="0"/>
              <a:t> after removal of rows with null values.</a:t>
            </a:r>
          </a:p>
          <a:p>
            <a:endParaRPr lang="en-GB" sz="2400" noProof="0" dirty="0"/>
          </a:p>
          <a:p>
            <a:r>
              <a:rPr lang="en-GB" sz="2400" noProof="0" dirty="0"/>
              <a:t>We </a:t>
            </a:r>
            <a:r>
              <a:rPr lang="en-GB" sz="2400" dirty="0"/>
              <a:t>also</a:t>
            </a:r>
            <a:r>
              <a:rPr lang="en-GB" sz="2400" noProof="0" dirty="0"/>
              <a:t> removed outliers using the Interquartile Range (IQR) method.</a:t>
            </a:r>
          </a:p>
          <a:p>
            <a:endParaRPr lang="en-GB" sz="2400" noProof="0" dirty="0"/>
          </a:p>
          <a:p>
            <a:r>
              <a:rPr lang="en-GB" sz="2400" noProof="0" dirty="0"/>
              <a:t>Remaining rows: </a:t>
            </a:r>
            <a:r>
              <a:rPr lang="en-GB" sz="2400" b="1" noProof="0" dirty="0"/>
              <a:t>879</a:t>
            </a:r>
          </a:p>
          <a:p>
            <a:endParaRPr lang="en-GB" sz="28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804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62B07-7F96-304C-8DB1-FD6CFEFC7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8E33B182-11CE-0DDB-6BEE-DBEFBCBF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Data Distribution - </a:t>
            </a: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numerical variables</a:t>
            </a:r>
          </a:p>
        </p:txBody>
      </p:sp>
      <p:pic>
        <p:nvPicPr>
          <p:cNvPr id="3" name="Immagine 2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CFC91F98-FB95-0854-E002-E37A460FC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01438"/>
            <a:ext cx="5155410" cy="3855124"/>
          </a:xfrm>
          <a:prstGeom prst="rect">
            <a:avLst/>
          </a:prstGeom>
        </p:spPr>
      </p:pic>
      <p:pic>
        <p:nvPicPr>
          <p:cNvPr id="6" name="Immagine 5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B0487798-14B9-9502-D72F-DD6D0FC36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410" y="1506319"/>
            <a:ext cx="5155410" cy="385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14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B9BEF-8AB4-6AB3-C407-5D556E33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796949C-E7B0-3AB2-9A23-5721A39EB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Data Distribution - </a:t>
            </a: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numerical variables</a:t>
            </a:r>
          </a:p>
        </p:txBody>
      </p:sp>
      <p:pic>
        <p:nvPicPr>
          <p:cNvPr id="9" name="Immagine 8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DB77FB95-F666-065A-9B48-563F91E9E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45654"/>
            <a:ext cx="5043534" cy="3766691"/>
          </a:xfrm>
          <a:prstGeom prst="rect">
            <a:avLst/>
          </a:prstGeom>
        </p:spPr>
      </p:pic>
      <p:pic>
        <p:nvPicPr>
          <p:cNvPr id="12" name="Immagine 11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5D38870D-A266-25FD-ED7E-A6DB44A05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533" y="1545654"/>
            <a:ext cx="5037150" cy="376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75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FD53E-49CA-D830-B50B-627F7455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424E2423-362E-3208-896E-568C37971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Data Distribution – </a:t>
            </a: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categorical</a:t>
            </a:r>
            <a:r>
              <a:rPr lang="en-GB" noProof="0" dirty="0">
                <a:latin typeface="Arial Black" panose="020B0A04020102020204" pitchFamily="34" charset="0"/>
              </a:rPr>
              <a:t> </a:t>
            </a: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</a:p>
        </p:txBody>
      </p:sp>
      <p:pic>
        <p:nvPicPr>
          <p:cNvPr id="3" name="Immagine 2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142869E7-5E74-04C5-FF3D-01D89840F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45654"/>
            <a:ext cx="5043534" cy="3766691"/>
          </a:xfrm>
          <a:prstGeom prst="rect">
            <a:avLst/>
          </a:prstGeom>
        </p:spPr>
      </p:pic>
      <p:pic>
        <p:nvPicPr>
          <p:cNvPr id="5" name="Immagine 4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EAD0AAE0-21E8-513C-AD44-6E073A81E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45654"/>
            <a:ext cx="5043535" cy="376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566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5188-5155-8374-BDB1-CDB82970F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AA0EEA9D-AEA6-B290-3DF8-43B1A7B6D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6680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Data Distribution - </a:t>
            </a: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categorical</a:t>
            </a:r>
            <a:r>
              <a:rPr lang="en-GB" noProof="0" dirty="0">
                <a:latin typeface="Arial Black" panose="020B0A04020102020204" pitchFamily="34" charset="0"/>
              </a:rPr>
              <a:t> </a:t>
            </a: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</a:p>
        </p:txBody>
      </p:sp>
      <p:pic>
        <p:nvPicPr>
          <p:cNvPr id="3" name="Immagine 2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6CEF1EAD-739D-05DC-B1D1-9B9BEB301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58353"/>
            <a:ext cx="5009525" cy="374129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2644C8F-4E9C-37C5-4392-D43EBC419F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58353"/>
            <a:ext cx="5009526" cy="374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90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80AF6-CB43-B2A4-FC22-D81DF7FB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48B561EB-BCA7-8F2D-6AF7-4F9925D417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5"/>
          <a:stretch>
            <a:fillRect/>
          </a:stretch>
        </p:blipFill>
        <p:spPr>
          <a:xfrm>
            <a:off x="5146154" y="609600"/>
            <a:ext cx="6283846" cy="5486400"/>
          </a:xfrm>
          <a:prstGeom prst="rect">
            <a:avLst/>
          </a:prstGeom>
        </p:spPr>
      </p:pic>
      <p:sp>
        <p:nvSpPr>
          <p:cNvPr id="10" name="Titolo 9">
            <a:extLst>
              <a:ext uri="{FF2B5EF4-FFF2-40B4-BE49-F238E27FC236}">
                <a16:creationId xmlns:a16="http://schemas.microsoft.com/office/drawing/2014/main" id="{9B165C04-00E1-90D7-25A0-739951208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870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Evaluating correlation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AD153D7-1852-A2D8-E9E4-5BBBD89E4D5F}"/>
              </a:ext>
            </a:extLst>
          </p:cNvPr>
          <p:cNvSpPr txBox="1"/>
          <p:nvPr/>
        </p:nvSpPr>
        <p:spPr>
          <a:xfrm>
            <a:off x="762000" y="1351508"/>
            <a:ext cx="3733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/>
              <a:t>Some numerical variables show a clear linear relationship with delivery time.</a:t>
            </a:r>
          </a:p>
          <a:p>
            <a:pPr algn="just"/>
            <a:endParaRPr lang="en-GB" sz="2400" noProof="0" dirty="0"/>
          </a:p>
          <a:p>
            <a:pPr algn="just"/>
            <a:r>
              <a:rPr lang="en-GB" sz="2400" noProof="0" dirty="0"/>
              <a:t>Even though </a:t>
            </a:r>
            <a:r>
              <a:rPr lang="en-GB" sz="2400" i="1" noProof="0" dirty="0"/>
              <a:t>Courier Experience</a:t>
            </a:r>
            <a:r>
              <a:rPr lang="en-GB" sz="2400" noProof="0" dirty="0"/>
              <a:t> is numerical we consider it as categorical because the values represent discrete levels of experience.</a:t>
            </a:r>
          </a:p>
        </p:txBody>
      </p:sp>
    </p:spTree>
    <p:extLst>
      <p:ext uri="{BB962C8B-B14F-4D97-AF65-F5344CB8AC3E}">
        <p14:creationId xmlns:p14="http://schemas.microsoft.com/office/powerpoint/2010/main" val="610034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F8B6B-BF08-10AC-8D47-9D9404E7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6D77FACF-CA1E-39BA-D8C9-A9FB13A3C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Simple linear regression - Objective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AC9AD6C-E5A7-CF80-C3A4-CCC3A8801177}"/>
              </a:ext>
            </a:extLst>
          </p:cNvPr>
          <p:cNvSpPr txBox="1"/>
          <p:nvPr/>
        </p:nvSpPr>
        <p:spPr>
          <a:xfrm>
            <a:off x="762000" y="1828800"/>
            <a:ext cx="10287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two numerical variables, 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Distance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 Preparation Time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, are selected, and the relationship between each of them and the response variable 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Delivery Time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is analysed individually.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ECB1743-E57E-91C6-D448-7E0FF0D15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74068"/>
            <a:ext cx="3983848" cy="120032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0B540B0B-9C3D-A1A1-0D84-CCB0DBDE5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3974068"/>
            <a:ext cx="4523553" cy="120032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16EB98-ACFE-D701-A736-DCA2FFAB3DD1}"/>
              </a:ext>
            </a:extLst>
          </p:cNvPr>
          <p:cNvSpPr txBox="1"/>
          <p:nvPr/>
        </p:nvSpPr>
        <p:spPr>
          <a:xfrm>
            <a:off x="838200" y="5269468"/>
            <a:ext cx="398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Distance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E29B725-C65D-A817-3E09-50ED8D3D4DD8}"/>
              </a:ext>
            </a:extLst>
          </p:cNvPr>
          <p:cNvSpPr txBox="1"/>
          <p:nvPr/>
        </p:nvSpPr>
        <p:spPr>
          <a:xfrm>
            <a:off x="6324600" y="5269468"/>
            <a:ext cx="398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Preparation time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02C90BD-ECB9-94C8-8620-4BAD66493A8D}"/>
              </a:ext>
            </a:extLst>
          </p:cNvPr>
          <p:cNvSpPr txBox="1"/>
          <p:nvPr/>
        </p:nvSpPr>
        <p:spPr>
          <a:xfrm>
            <a:off x="762000" y="31358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12"/>
              </a:spcBef>
              <a:spcAft>
                <a:spcPts val="504"/>
              </a:spcAft>
            </a:pPr>
            <a:r>
              <a:rPr lang="en-GB" b="0" i="1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Delivery Time (min)</a:t>
            </a:r>
            <a:r>
              <a:rPr lang="en-GB" b="0" i="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= </a:t>
            </a:r>
            <a:r>
              <a:rPr lang="en-GB" b="0" i="1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b0</a:t>
            </a:r>
            <a:r>
              <a:rPr lang="en-GB" b="0" i="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+ </a:t>
            </a:r>
            <a:r>
              <a:rPr lang="en-GB" b="0" i="1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b1</a:t>
            </a:r>
            <a:r>
              <a:rPr lang="en-GB" b="0" i="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* </a:t>
            </a:r>
            <a:r>
              <a:rPr lang="en-GB" b="0" i="1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Variable </a:t>
            </a:r>
            <a:r>
              <a:rPr lang="en-GB" b="0" i="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+ </a:t>
            </a:r>
            <a:r>
              <a:rPr lang="en-GB" b="0" i="1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GB" b="0" i="0" noProof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97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F035A-6665-1CA5-B40D-17C07FB1C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78BE1AD-1E6A-AF49-3EF5-02F70B693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Simple linear regression - Scatterplots</a:t>
            </a:r>
          </a:p>
        </p:txBody>
      </p:sp>
      <p:pic>
        <p:nvPicPr>
          <p:cNvPr id="11" name="Immagine 10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B8B0F989-A993-02F8-B859-CF61D00DC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559" y="1676400"/>
            <a:ext cx="5296441" cy="4053848"/>
          </a:xfrm>
          <a:prstGeom prst="rect">
            <a:avLst/>
          </a:prstGeom>
        </p:spPr>
      </p:pic>
      <p:pic>
        <p:nvPicPr>
          <p:cNvPr id="13" name="Immagine 12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FB503AC6-2B3A-144E-AD26-0C07E1911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14" y="1676400"/>
            <a:ext cx="5296441" cy="405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35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C16B-F5A1-9AC5-8E33-EB0CECC0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0344D08C-96E3-6E52-7A73-6CE785894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Simple linear regression - Residuals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A047B9B-3183-983C-67EF-F330EFBC0228}"/>
              </a:ext>
            </a:extLst>
          </p:cNvPr>
          <p:cNvSpPr txBox="1"/>
          <p:nvPr/>
        </p:nvSpPr>
        <p:spPr>
          <a:xfrm>
            <a:off x="1350152" y="5650468"/>
            <a:ext cx="398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Distance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88D0B16-D885-7EB5-2C0D-A7B7BE84DA05}"/>
              </a:ext>
            </a:extLst>
          </p:cNvPr>
          <p:cNvSpPr txBox="1"/>
          <p:nvPr/>
        </p:nvSpPr>
        <p:spPr>
          <a:xfrm>
            <a:off x="6607952" y="5650468"/>
            <a:ext cx="398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Preparation time</a:t>
            </a:r>
          </a:p>
        </p:txBody>
      </p:sp>
      <p:pic>
        <p:nvPicPr>
          <p:cNvPr id="8" name="Immagine 7" descr="Immagine che contiene schermata, modello&#10;&#10;Il contenuto generato dall'IA potrebbe non essere corretto.">
            <a:extLst>
              <a:ext uri="{FF2B5EF4-FFF2-40B4-BE49-F238E27FC236}">
                <a16:creationId xmlns:a16="http://schemas.microsoft.com/office/drawing/2014/main" id="{C1FFF3BB-F253-5757-CD44-CD06E7351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53347"/>
            <a:ext cx="4587638" cy="4397121"/>
          </a:xfrm>
          <a:prstGeom prst="rect">
            <a:avLst/>
          </a:prstGeom>
        </p:spPr>
      </p:pic>
      <p:pic>
        <p:nvPicPr>
          <p:cNvPr id="11" name="Immagine 10" descr="Immagine che contiene schermata, testo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7B70E2B5-A722-4629-440E-DE56819F41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244880"/>
            <a:ext cx="4648603" cy="43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02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A646E-EDAD-7A2A-9660-7736D9D5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20D58A8-0216-DE3C-8789-2DABC7880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Simple linear regression - Leverage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6D7A7A9-22CB-6AA0-7E19-C933964EAFCE}"/>
              </a:ext>
            </a:extLst>
          </p:cNvPr>
          <p:cNvSpPr txBox="1"/>
          <p:nvPr/>
        </p:nvSpPr>
        <p:spPr>
          <a:xfrm>
            <a:off x="1121552" y="5726668"/>
            <a:ext cx="398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Distance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6636684-723A-6A3A-01EB-E359E28F9C71}"/>
              </a:ext>
            </a:extLst>
          </p:cNvPr>
          <p:cNvSpPr txBox="1"/>
          <p:nvPr/>
        </p:nvSpPr>
        <p:spPr>
          <a:xfrm>
            <a:off x="6607952" y="5726668"/>
            <a:ext cx="398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Preparation time</a:t>
            </a:r>
          </a:p>
        </p:txBody>
      </p:sp>
      <p:pic>
        <p:nvPicPr>
          <p:cNvPr id="8" name="Immagine 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E848411E-B391-B405-BDBE-507DB4916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991" y="1367650"/>
            <a:ext cx="4724809" cy="4359018"/>
          </a:xfrm>
          <a:prstGeom prst="rect">
            <a:avLst/>
          </a:prstGeom>
        </p:spPr>
      </p:pic>
      <p:pic>
        <p:nvPicPr>
          <p:cNvPr id="11" name="Immagine 10" descr="Immagine che contiene schermata, modello&#10;&#10;Il contenuto generato dall'IA potrebbe non essere corretto.">
            <a:extLst>
              <a:ext uri="{FF2B5EF4-FFF2-40B4-BE49-F238E27FC236}">
                <a16:creationId xmlns:a16="http://schemas.microsoft.com/office/drawing/2014/main" id="{4C76AC6D-F57B-BDF1-C698-D683765542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295400"/>
            <a:ext cx="4725567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254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7257E-A473-9FAF-BE85-7EFD6231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14DE9034-1411-228E-694D-E6CF5A52F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Multiple linear regression -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using numerical predictors only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9932D82-0AC0-4E55-6193-B8333A01C5B1}"/>
              </a:ext>
            </a:extLst>
          </p:cNvPr>
          <p:cNvSpPr txBox="1"/>
          <p:nvPr/>
        </p:nvSpPr>
        <p:spPr>
          <a:xfrm>
            <a:off x="762000" y="1828800"/>
            <a:ext cx="10287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Both variables are useful to determine delivery times.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/>
              <a:t>Overall, the model performs well.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magine 8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A08FCE29-32E2-65FE-5C5C-EA166EECB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743200"/>
            <a:ext cx="6526306" cy="2204249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E24CDDF5-C2D8-2B85-1184-49BC2C0FD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106" y="3733800"/>
            <a:ext cx="2566894" cy="109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53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23968-9495-9BFE-F078-9B9E10BE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, schermata, quadrato, Rettangolo&#10;&#10;Il contenuto generato dall'IA potrebbe non essere corretto.">
            <a:extLst>
              <a:ext uri="{FF2B5EF4-FFF2-40B4-BE49-F238E27FC236}">
                <a16:creationId xmlns:a16="http://schemas.microsoft.com/office/drawing/2014/main" id="{75276288-0634-A409-66EB-25E013E546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0"/>
          <a:stretch>
            <a:fillRect/>
          </a:stretch>
        </p:blipFill>
        <p:spPr>
          <a:xfrm>
            <a:off x="5867401" y="1151466"/>
            <a:ext cx="5562600" cy="4944534"/>
          </a:xfrm>
          <a:prstGeom prst="rect">
            <a:avLst/>
          </a:prstGeom>
        </p:spPr>
      </p:pic>
      <p:sp>
        <p:nvSpPr>
          <p:cNvPr id="10" name="Titolo 9">
            <a:extLst>
              <a:ext uri="{FF2B5EF4-FFF2-40B4-BE49-F238E27FC236}">
                <a16:creationId xmlns:a16="http://schemas.microsoft.com/office/drawing/2014/main" id="{2C041BDB-7CDC-02D2-819B-138BAC8DA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Multiple linear regression -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categorical regressors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0010B9A-B0B1-89C4-E5E7-3EDB5A9EB591}"/>
              </a:ext>
            </a:extLst>
          </p:cNvPr>
          <p:cNvSpPr txBox="1"/>
          <p:nvPr/>
        </p:nvSpPr>
        <p:spPr>
          <a:xfrm>
            <a:off x="762000" y="1828800"/>
            <a:ext cx="4876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noProof="0" dirty="0"/>
              <a:t>We verify that the categorical variables are not strongly correlated with each other.</a:t>
            </a:r>
          </a:p>
          <a:p>
            <a:pPr marL="0" indent="0">
              <a:buNone/>
            </a:pPr>
            <a:b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To do so, we use Cramér's V, a statistical measure of association between two categorical variables.</a:t>
            </a: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023624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1C255-6A7F-84D9-1360-ADE5FF080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CFE20A8E-4874-FF14-57D7-A71F0BB7A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763127"/>
            <a:ext cx="4191000" cy="5331745"/>
          </a:xfrm>
          <a:prstGeom prst="rect">
            <a:avLst/>
          </a:prstGeom>
        </p:spPr>
      </p:pic>
      <p:sp>
        <p:nvSpPr>
          <p:cNvPr id="10" name="Titolo 9">
            <a:extLst>
              <a:ext uri="{FF2B5EF4-FFF2-40B4-BE49-F238E27FC236}">
                <a16:creationId xmlns:a16="http://schemas.microsoft.com/office/drawing/2014/main" id="{F56DF66C-D141-34C0-4A61-70E66091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Multiple linear regression -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full model evaluation</a:t>
            </a:r>
          </a:p>
        </p:txBody>
      </p:sp>
      <p:pic>
        <p:nvPicPr>
          <p:cNvPr id="7" name="Immagine 6" descr="Immagine che contiene testo, Carattere, design, tipografia&#10;&#10;Il contenuto generato dall'IA potrebbe non essere corretto.">
            <a:extLst>
              <a:ext uri="{FF2B5EF4-FFF2-40B4-BE49-F238E27FC236}">
                <a16:creationId xmlns:a16="http://schemas.microsoft.com/office/drawing/2014/main" id="{1739F24E-A28F-3ADD-B7BB-09E491D8E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67" y="1770993"/>
            <a:ext cx="1577786" cy="8382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0818E42-B743-B05B-D17E-F360FF9C73E0}"/>
              </a:ext>
            </a:extLst>
          </p:cNvPr>
          <p:cNvSpPr txBox="1"/>
          <p:nvPr/>
        </p:nvSpPr>
        <p:spPr>
          <a:xfrm>
            <a:off x="745067" y="2845767"/>
            <a:ext cx="4876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Overall, the model has improved in both explanatory power and prediction accuracy.</a:t>
            </a:r>
          </a:p>
          <a:p>
            <a:pPr marL="0" indent="0">
              <a:buNone/>
            </a:pP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notice that the p-values for 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Vehicle Type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Time of Day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 are high, so we choose to remove them. </a:t>
            </a:r>
          </a:p>
        </p:txBody>
      </p:sp>
    </p:spTree>
    <p:extLst>
      <p:ext uri="{BB962C8B-B14F-4D97-AF65-F5344CB8AC3E}">
        <p14:creationId xmlns:p14="http://schemas.microsoft.com/office/powerpoint/2010/main" val="922095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4D930-1CC4-C4DC-DC67-14BF245F5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9B06A2B0-203F-016F-B9C8-081C587B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Multiple linear regression -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refined model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E62DA47-8A81-553E-80F1-B6E02042E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31922"/>
            <a:ext cx="1571080" cy="777271"/>
          </a:xfrm>
          <a:prstGeom prst="rect">
            <a:avLst/>
          </a:prstGeom>
        </p:spPr>
      </p:pic>
      <p:pic>
        <p:nvPicPr>
          <p:cNvPr id="6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79639ECF-8D9F-28E5-4793-E7D872A40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377" y="990600"/>
            <a:ext cx="5613223" cy="5063984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57ACCC63-2409-B7AA-F8A1-081DEA40A9A4}"/>
              </a:ext>
            </a:extLst>
          </p:cNvPr>
          <p:cNvSpPr txBox="1"/>
          <p:nvPr/>
        </p:nvSpPr>
        <p:spPr>
          <a:xfrm>
            <a:off x="685800" y="3124200"/>
            <a:ext cx="4876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noProof="0" dirty="0"/>
              <a:t>By removing those two variables, we obtain a simpler and more interpretable model.</a:t>
            </a:r>
          </a:p>
          <a:p>
            <a:pPr marL="0" indent="0">
              <a:buNone/>
            </a:pPr>
            <a:br>
              <a:rPr lang="en-GB" sz="2400" noProof="0" dirty="0"/>
            </a:br>
            <a:r>
              <a:rPr lang="en-GB" sz="2400" noProof="0" dirty="0"/>
              <a:t>This </a:t>
            </a:r>
            <a:r>
              <a:rPr lang="en-GB" sz="2400" dirty="0"/>
              <a:t>is</a:t>
            </a:r>
            <a:r>
              <a:rPr lang="en-GB" sz="2400" noProof="0" dirty="0"/>
              <a:t> achieved without losing the good performance of the previous full model.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341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2C72E-C2AF-9515-1E75-29CE78FCE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8C3F385-5482-5DFB-60AE-7ADAD8B7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Multiple linear regression -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refined model</a:t>
            </a:r>
          </a:p>
        </p:txBody>
      </p:sp>
      <p:pic>
        <p:nvPicPr>
          <p:cNvPr id="3" name="Immagine 2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07E29012-F447-2C50-1042-41F656086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52600"/>
            <a:ext cx="5010922" cy="3575311"/>
          </a:xfrm>
          <a:prstGeom prst="rect">
            <a:avLst/>
          </a:prstGeom>
        </p:spPr>
      </p:pic>
      <p:pic>
        <p:nvPicPr>
          <p:cNvPr id="7" name="Immagine 6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6F59419E-92B6-846A-2FC3-5C02A7239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752600"/>
            <a:ext cx="4965202" cy="357531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F270222-F2B6-A7D5-BCCA-D3AE8E87C6B5}"/>
              </a:ext>
            </a:extLst>
          </p:cNvPr>
          <p:cNvSpPr txBox="1"/>
          <p:nvPr/>
        </p:nvSpPr>
        <p:spPr>
          <a:xfrm>
            <a:off x="762000" y="5486400"/>
            <a:ext cx="1022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In the residuals, we can observe a clear cone-shaped pattern, which indicates heteroscedasticity</a:t>
            </a:r>
            <a:r>
              <a:rPr lang="en-GB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9660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C2AAA-16D1-5FC8-45DD-AA93765F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C8404C2A-3524-C432-CE80-487ABA153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Multiple linear regression -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log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D623061-EC81-9105-722A-C7BC80D8D0F6}"/>
                  </a:ext>
                </a:extLst>
              </p:cNvPr>
              <p:cNvSpPr txBox="1"/>
              <p:nvPr/>
            </p:nvSpPr>
            <p:spPr>
              <a:xfrm>
                <a:off x="762000" y="5486400"/>
                <a:ext cx="102230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GB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p>
                        <m:r>
                          <a:rPr lang="en-GB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noProof="0" dirty="0"/>
                  <a:t>: 0.823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D623061-EC81-9105-722A-C7BC80D8D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486400"/>
                <a:ext cx="10223002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D680CC39-130C-7EF5-3499-25DC64F3D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52600"/>
            <a:ext cx="5010922" cy="3575311"/>
          </a:xfrm>
          <a:prstGeom prst="rect">
            <a:avLst/>
          </a:prstGeom>
        </p:spPr>
      </p:pic>
      <p:pic>
        <p:nvPicPr>
          <p:cNvPr id="6" name="Immagine 5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564DEB66-17BB-852B-3F28-CEBAFE3048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526" y="1752600"/>
            <a:ext cx="5084074" cy="357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807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44A02-CBC5-2076-E553-949654AB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AC25BDAB-FDD7-3576-C58E-37911D88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Multiple linear regression -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square root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A510493-13D9-75EC-04B8-955797B187BD}"/>
                  </a:ext>
                </a:extLst>
              </p:cNvPr>
              <p:cNvSpPr txBox="1"/>
              <p:nvPr/>
            </p:nvSpPr>
            <p:spPr>
              <a:xfrm>
                <a:off x="762000" y="5486400"/>
                <a:ext cx="102230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GB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p>
                        <m:r>
                          <a:rPr lang="en-GB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noProof="0" dirty="0"/>
                  <a:t>: 0.827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A510493-13D9-75EC-04B8-955797B18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486400"/>
                <a:ext cx="10223002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FE4C3426-F070-1580-8ED7-A4A9B06A7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56620"/>
            <a:ext cx="5010922" cy="3575311"/>
          </a:xfrm>
          <a:prstGeom prst="rect">
            <a:avLst/>
          </a:prstGeom>
        </p:spPr>
      </p:pic>
      <p:pic>
        <p:nvPicPr>
          <p:cNvPr id="9" name="Immagine 8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C601897E-1C84-9367-23AE-B0FED420EB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756621"/>
            <a:ext cx="4882906" cy="357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941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0D9AF-5E64-EEFF-B2CD-3A8F6F8A5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E9DC9D6-8C35-C05E-F598-1AB363D5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Multiple linear regression -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box cox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4A986E73-4FCB-5579-3623-86E20A4930CB}"/>
                  </a:ext>
                </a:extLst>
              </p:cNvPr>
              <p:cNvSpPr txBox="1"/>
              <p:nvPr/>
            </p:nvSpPr>
            <p:spPr>
              <a:xfrm>
                <a:off x="762000" y="5486400"/>
                <a:ext cx="102230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GB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p>
                        <m:r>
                          <a:rPr lang="en-GB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noProof="0" dirty="0"/>
                  <a:t>: 0.825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4A986E73-4FCB-5579-3623-86E20A493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486400"/>
                <a:ext cx="10223002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5BD3F481-F360-8AEB-8E4F-0B645453C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33" y="1752600"/>
            <a:ext cx="5010922" cy="3575311"/>
          </a:xfrm>
          <a:prstGeom prst="rect">
            <a:avLst/>
          </a:prstGeom>
        </p:spPr>
      </p:pic>
      <p:pic>
        <p:nvPicPr>
          <p:cNvPr id="9" name="Immagine 8" descr="Immagine che contiene testo, Diagramma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A4FE89B4-DAD1-30D6-AC7F-DBB8021750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756621"/>
            <a:ext cx="4882906" cy="357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93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AF6B4-70AD-2E61-56DE-9312D6739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DA3CCA00-532B-5BA6-0FF2-DD90928D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Cross validation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90B9CB7-F8B6-82AF-67B3-843C22CE8774}"/>
              </a:ext>
            </a:extLst>
          </p:cNvPr>
          <p:cNvSpPr txBox="1"/>
          <p:nvPr/>
        </p:nvSpPr>
        <p:spPr>
          <a:xfrm>
            <a:off x="685800" y="1600200"/>
            <a:ext cx="10744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split the dataset to compute three Cross Validation methods on the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regression model.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Basic Cross Validation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 fastest method, obtains mediocre results;</a:t>
            </a: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	MSE: 96.075		RMSE: 9.802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Leave-One-Out Cross Validation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 much more precise but also expensive;</a:t>
            </a: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	MSE: </a:t>
            </a:r>
            <a:r>
              <a:rPr lang="en-GB" sz="2400" noProof="0" dirty="0"/>
              <a:t>89.766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		RMSE: </a:t>
            </a:r>
            <a:r>
              <a:rPr lang="en-GB" sz="2400" noProof="0" dirty="0"/>
              <a:t>9.474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K-Fold Cross Validation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 yields the best results out of the three methods.</a:t>
            </a: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	MSE: </a:t>
            </a:r>
            <a:r>
              <a:rPr lang="en-GB" sz="2400" noProof="0" dirty="0"/>
              <a:t>89.613	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	RMSE: </a:t>
            </a:r>
            <a:r>
              <a:rPr lang="en-GB" sz="2400" noProof="0" dirty="0"/>
              <a:t>9.466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153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AC74D-1396-BE00-F678-558A7B0F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C216DC3B-F072-2F2F-BC38-0208AF28C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Shrinkage methods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6A94E21-93AD-7FA3-68EC-6C8E3FDA38A3}"/>
              </a:ext>
            </a:extLst>
          </p:cNvPr>
          <p:cNvSpPr txBox="1"/>
          <p:nvPr/>
        </p:nvSpPr>
        <p:spPr>
          <a:xfrm>
            <a:off x="685800" y="1600200"/>
            <a:ext cx="4876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utilize two methods: </a:t>
            </a: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Ridge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GB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Lasso regression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For this evaluation, we need to </a:t>
            </a:r>
            <a:r>
              <a:rPr lang="en-GB" sz="2400" noProof="0" dirty="0"/>
              <a:t>return to a model with </a:t>
            </a:r>
            <a:r>
              <a:rPr lang="en-GB" sz="2400" b="1" noProof="0" dirty="0"/>
              <a:t>all variables</a:t>
            </a:r>
            <a:r>
              <a:rPr lang="en-GB" sz="2400" noProof="0" dirty="0"/>
              <a:t>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/>
              <a:t>It is also important to </a:t>
            </a:r>
            <a:r>
              <a:rPr lang="en-GB" sz="2400" b="1" noProof="0" dirty="0"/>
              <a:t>standardize</a:t>
            </a:r>
            <a:r>
              <a:rPr lang="en-GB" sz="2400" noProof="0" dirty="0"/>
              <a:t> the model, as this ensures all variables are on the same scale.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magine 2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6A618ADF-2C82-A65C-B070-5E7266F39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2" y="457201"/>
            <a:ext cx="4180825" cy="52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008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BEB441B-84B4-7010-A71A-7DAB3561E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1534" y="1447800"/>
            <a:ext cx="3810000" cy="3693319"/>
          </a:xfrm>
        </p:spPr>
        <p:txBody>
          <a:bodyPr/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begin by splitting the database into train and test sets, and we search for the optimal lambda for ridge regression, using 10-fold cross-validation.</a:t>
            </a:r>
          </a:p>
          <a:p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Best Ridge Lambda:  5.359</a:t>
            </a:r>
          </a:p>
        </p:txBody>
      </p:sp>
      <p:sp>
        <p:nvSpPr>
          <p:cNvPr id="4" name="Titolo 9">
            <a:extLst>
              <a:ext uri="{FF2B5EF4-FFF2-40B4-BE49-F238E27FC236}">
                <a16:creationId xmlns:a16="http://schemas.microsoft.com/office/drawing/2014/main" id="{8A2CADCF-74E9-34AF-0F2A-81D2C7AFD5D8}"/>
              </a:ext>
            </a:extLst>
          </p:cNvPr>
          <p:cNvSpPr txBox="1">
            <a:spLocks/>
          </p:cNvSpPr>
          <p:nvPr/>
        </p:nvSpPr>
        <p:spPr>
          <a:xfrm>
            <a:off x="762000" y="457201"/>
            <a:ext cx="10515600" cy="538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GB" noProof="0" dirty="0">
                <a:latin typeface="Arial Black" panose="020B0A04020102020204" pitchFamily="34" charset="0"/>
              </a:rPr>
              <a:t>Ridge regression</a:t>
            </a:r>
          </a:p>
        </p:txBody>
      </p:sp>
      <p:pic>
        <p:nvPicPr>
          <p:cNvPr id="7" name="Immagine 6" descr="Immagine che contiene testo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A2C94F57-334C-3712-73A7-07717F75E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" y="1190542"/>
            <a:ext cx="6712751" cy="429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45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493E4-EC9A-B642-5A4F-E0FB5AF97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2F089B75-5482-71E4-AA67-9361BCBF2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Ridge regression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2825D67-2930-5760-91B9-9DEBD6E98B78}"/>
              </a:ext>
            </a:extLst>
          </p:cNvPr>
          <p:cNvSpPr txBox="1"/>
          <p:nvPr/>
        </p:nvSpPr>
        <p:spPr>
          <a:xfrm>
            <a:off x="685800" y="1577876"/>
            <a:ext cx="4876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GB" sz="2400" noProof="0" dirty="0"/>
              <a:t>We see that the less significant variables have coefficients very close to zero for ridge regression.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b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EDB30D71-7692-5C7B-4AB9-EC91D65A8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2" y="838199"/>
            <a:ext cx="2695916" cy="5143839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A8B099C0-2033-37A4-616C-187D7C643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048000"/>
            <a:ext cx="1672632" cy="69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49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5C021-CC0C-A742-F7D4-8E5D79C80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F22377CB-E863-8C7C-8778-AD500CBC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Ridge regression</a:t>
            </a:r>
          </a:p>
        </p:txBody>
      </p:sp>
      <p:pic>
        <p:nvPicPr>
          <p:cNvPr id="3" name="Immagine 2" descr="Immagine che contiene linea, testo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1AF75830-6A9A-72C7-0EDC-6C07887A4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239000" cy="4117214"/>
          </a:xfrm>
          <a:prstGeom prst="rect">
            <a:avLst/>
          </a:prstGeom>
        </p:spPr>
      </p:pic>
      <p:pic>
        <p:nvPicPr>
          <p:cNvPr id="7" name="Immagine 6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97010617-0352-FCAD-DEE7-F0B878ACF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3" b="10886"/>
          <a:stretch>
            <a:fillRect/>
          </a:stretch>
        </p:blipFill>
        <p:spPr>
          <a:xfrm>
            <a:off x="876300" y="5257418"/>
            <a:ext cx="7010400" cy="76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71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1667F-B2AE-5D61-C995-DA4B6841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B3999717-5722-ED83-C668-DD5F955F7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Lasso regression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1E5BDAE-6FE9-1F44-BCE8-3AB52C859F1E}"/>
              </a:ext>
            </a:extLst>
          </p:cNvPr>
          <p:cNvSpPr txBox="1"/>
          <p:nvPr/>
        </p:nvSpPr>
        <p:spPr>
          <a:xfrm>
            <a:off x="7467600" y="1513344"/>
            <a:ext cx="4038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noProof="0" dirty="0"/>
              <a:t>We proceed in the same manner with lasso regression.</a:t>
            </a:r>
          </a:p>
          <a:p>
            <a:pPr marL="0" indent="0" algn="just">
              <a:buNone/>
            </a:pPr>
            <a:endParaRPr lang="en-GB" sz="2400" noProof="0" dirty="0"/>
          </a:p>
          <a:p>
            <a:pPr marL="0" indent="0" algn="l">
              <a:buNone/>
            </a:pPr>
            <a:r>
              <a:rPr lang="en-GB" sz="2400" b="1" noProof="0" dirty="0"/>
              <a:t>Best Lasso lambda</a:t>
            </a:r>
            <a:r>
              <a:rPr lang="en-GB" sz="2400" noProof="0" dirty="0"/>
              <a:t>: 0.146</a:t>
            </a:r>
            <a:br>
              <a:rPr lang="en-GB" sz="2400" noProof="0" dirty="0"/>
            </a:br>
            <a:endParaRPr lang="en-GB" sz="2400" noProof="0" dirty="0"/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magine 2" descr="Immagine che contiene testo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F791FE7A-DFDC-4C87-DC84-B64329BC9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58977"/>
            <a:ext cx="6781800" cy="434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103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A1969-A2BE-42FC-3210-6215CA566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492440B4-64DB-E6BE-BB11-30F07A629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Lasso regression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988FDC8-C63A-C898-A95F-108115F8DD4B}"/>
              </a:ext>
            </a:extLst>
          </p:cNvPr>
          <p:cNvSpPr txBox="1"/>
          <p:nvPr/>
        </p:nvSpPr>
        <p:spPr>
          <a:xfrm>
            <a:off x="685800" y="1600200"/>
            <a:ext cx="5715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GB" sz="2400" noProof="0" dirty="0"/>
              <a:t>With lasso regression, the less significant variables are driven exactly to zero, allowing for model simplification.</a:t>
            </a:r>
            <a:br>
              <a:rPr lang="en-GB" sz="2400" noProof="0" dirty="0"/>
            </a:br>
            <a:endParaRPr lang="en-GB" sz="2400" noProof="0" dirty="0"/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magine 2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BD8616D7-36AF-97EE-6A9D-0F1395C88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798975"/>
            <a:ext cx="2743200" cy="5260489"/>
          </a:xfrm>
          <a:prstGeom prst="rect">
            <a:avLst/>
          </a:prstGeom>
        </p:spPr>
      </p:pic>
      <p:pic>
        <p:nvPicPr>
          <p:cNvPr id="7" name="Immagine 6" descr="Immagine che contiene testo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207000CD-D46B-5293-A113-D15C89E11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086100"/>
            <a:ext cx="1506069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307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6CBCF-0DE4-8144-CB01-728110A25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493ABA26-5E11-8CE2-686B-FBCEC3BBD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Lasso regression</a:t>
            </a:r>
          </a:p>
        </p:txBody>
      </p:sp>
      <p:pic>
        <p:nvPicPr>
          <p:cNvPr id="7" name="Immagine 6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A0B8AF5A-C137-5790-763E-2741EEDF3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3" b="10886"/>
          <a:stretch>
            <a:fillRect/>
          </a:stretch>
        </p:blipFill>
        <p:spPr>
          <a:xfrm>
            <a:off x="876300" y="5257418"/>
            <a:ext cx="7010400" cy="764796"/>
          </a:xfrm>
          <a:prstGeom prst="rect">
            <a:avLst/>
          </a:prstGeom>
        </p:spPr>
      </p:pic>
      <p:pic>
        <p:nvPicPr>
          <p:cNvPr id="4" name="Immagine 3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0DDEACA7-F3B0-3828-5D4C-D8712F0D11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143000"/>
            <a:ext cx="7315200" cy="416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71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18BCF-3A7F-BE86-EF20-D4DCA4713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9F9B631B-6AA1-2D79-AE60-26AFAE5DE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Decision trees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25DC9A5-A673-8337-FF6D-57F8CA04AFDF}"/>
              </a:ext>
            </a:extLst>
          </p:cNvPr>
          <p:cNvSpPr txBox="1"/>
          <p:nvPr/>
        </p:nvSpPr>
        <p:spPr>
          <a:xfrm>
            <a:off x="685800" y="1600200"/>
            <a:ext cx="5257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/>
              <a:t>We return to a non-normalized model, as normalization is not needed.</a:t>
            </a:r>
          </a:p>
          <a:p>
            <a:pPr algn="just"/>
            <a:endParaRPr lang="en-GB" sz="2400" noProof="0" dirty="0"/>
          </a:p>
          <a:p>
            <a:pPr algn="just"/>
            <a:r>
              <a:rPr lang="en-GB" sz="2400" noProof="0" dirty="0"/>
              <a:t>Decision trees use binary splits on the regressors to classify expected value ranges.</a:t>
            </a:r>
          </a:p>
          <a:p>
            <a:pPr algn="just"/>
            <a:endParaRPr lang="en-GB" sz="2400" noProof="0" dirty="0"/>
          </a:p>
          <a:p>
            <a:pPr algn="just"/>
            <a:r>
              <a:rPr lang="en-GB" sz="2400" noProof="0" dirty="0"/>
              <a:t>Here are the importance rate of all the variables according to our first decision tree attempt.</a:t>
            </a:r>
          </a:p>
        </p:txBody>
      </p:sp>
      <p:pic>
        <p:nvPicPr>
          <p:cNvPr id="4" name="Immagine 3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DC5D3BE3-C86D-93B4-A2D4-D4E4FD513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726505"/>
            <a:ext cx="2819400" cy="517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775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D4DE0-E2F4-2583-866E-46B20E7F1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9BCA619-D809-A798-8844-5ADF1D7D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Regression tree – first attempt</a:t>
            </a:r>
          </a:p>
        </p:txBody>
      </p:sp>
      <p:pic>
        <p:nvPicPr>
          <p:cNvPr id="4" name="Immagine 3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50F7EBED-78E1-3CAF-159C-0B0301C8CF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08378"/>
            <a:ext cx="4972226" cy="4735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262EFCC-9525-1C4B-0A37-D010B1D4AEB2}"/>
                  </a:ext>
                </a:extLst>
              </p:cNvPr>
              <p:cNvSpPr txBox="1"/>
              <p:nvPr/>
            </p:nvSpPr>
            <p:spPr>
              <a:xfrm>
                <a:off x="6019800" y="1641627"/>
                <a:ext cx="5257800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First attempt is way too complex, and the resulting model is poor.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rtl="0"/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noProof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GB" sz="2400" b="0" i="1" noProof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p>
                        <m:r>
                          <a:rPr lang="en-GB" sz="2400" b="0" i="1" noProof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GB" sz="2400" b="0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 0.518 </a:t>
                </a:r>
              </a:p>
              <a:p>
                <a:pPr algn="just" rtl="0"/>
                <a:r>
                  <a:rPr kumimoji="0" lang="en-GB" sz="2400" b="0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MSE: 214.495 </a:t>
                </a:r>
              </a:p>
              <a:p>
                <a:pPr algn="just" rtl="0"/>
                <a:r>
                  <a:rPr kumimoji="0" lang="en-GB" sz="2400" b="0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RMSE: 14.646 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proceed to prune the regression tree, in hopes of improving the model quality.</a:t>
                </a: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262EFCC-9525-1C4B-0A37-D010B1D4A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1641627"/>
                <a:ext cx="5257800" cy="4154984"/>
              </a:xfrm>
              <a:prstGeom prst="rect">
                <a:avLst/>
              </a:prstGeom>
              <a:blipFill>
                <a:blip r:embed="rId3"/>
                <a:stretch>
                  <a:fillRect l="-1856" t="-1026" r="-1740" b="-24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1">
            <a:extLst>
              <a:ext uri="{FF2B5EF4-FFF2-40B4-BE49-F238E27FC236}">
                <a16:creationId xmlns:a16="http://schemas.microsoft.com/office/drawing/2014/main" id="{229A14C6-05FA-4255-7A67-47D2B5883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915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B3E2-5D9A-C152-CEA6-F8479CB5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FA4D004A-15F3-3F77-14C3-C637A7D5C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Regression tree – best depth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2E3AC863-56BB-863D-240E-9DE688E6C5D5}"/>
                  </a:ext>
                </a:extLst>
              </p:cNvPr>
              <p:cNvSpPr txBox="1"/>
              <p:nvPr/>
            </p:nvSpPr>
            <p:spPr>
              <a:xfrm>
                <a:off x="7239000" y="1641626"/>
                <a:ext cx="4038600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optimal depth seems to be 3, as this is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noProof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GB" sz="2400" b="0" i="1" noProof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p>
                        <m:r>
                          <a:rPr lang="en-GB" sz="2400" b="0" i="1" noProof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maximum.</a:t>
                </a:r>
              </a:p>
              <a:p>
                <a:pPr marL="0" indent="0" algn="just">
                  <a:buNone/>
                </a:pPr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can now prune the tree.</a:t>
                </a: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2E3AC863-56BB-863D-240E-9DE688E6C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1641626"/>
                <a:ext cx="4038600" cy="1938992"/>
              </a:xfrm>
              <a:prstGeom prst="rect">
                <a:avLst/>
              </a:prstGeom>
              <a:blipFill>
                <a:blip r:embed="rId2"/>
                <a:stretch>
                  <a:fillRect l="-2417" t="-2201" r="-2266" b="-660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1">
            <a:extLst>
              <a:ext uri="{FF2B5EF4-FFF2-40B4-BE49-F238E27FC236}">
                <a16:creationId xmlns:a16="http://schemas.microsoft.com/office/drawing/2014/main" id="{6D58CA8F-4D5A-21B5-3A1E-BB82E7A23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9A85906-A5BF-3DE4-1369-F70517928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363966"/>
            <a:ext cx="6102816" cy="383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650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56DC1-AEEF-B1EB-31B7-713EFDE64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5BBEE39-0E9B-75F3-F1D5-CDBFD006B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Regression tree – pruned tree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EF7B933-DC02-472B-B92D-463079D0E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1AD3086-582F-F847-1FE6-025BC0501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295400"/>
            <a:ext cx="10820400" cy="37836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F563577-BF8A-ECC7-48E1-2D36D21671B8}"/>
                  </a:ext>
                </a:extLst>
              </p:cNvPr>
              <p:cNvSpPr txBox="1"/>
              <p:nvPr/>
            </p:nvSpPr>
            <p:spPr>
              <a:xfrm>
                <a:off x="762000" y="5257800"/>
                <a:ext cx="10439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0"/>
                <a14:m>
                  <m:oMath xmlns:m="http://schemas.openxmlformats.org/officeDocument/2006/math">
                    <m:sSup>
                      <m:sSupPr>
                        <m:ctrlPr>
                          <a:rPr lang="en-GB" sz="1800" b="0" i="1" noProof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GB" sz="1800" b="0" i="1" noProof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p>
                        <m:r>
                          <a:rPr lang="en-GB" sz="1800" b="0" i="1" noProof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GB" sz="1800" b="0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 0.608				MSE: 174.627			RMSE: </a:t>
                </a:r>
                <a:r>
                  <a:rPr lang="en-GB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  <a:r>
                  <a:rPr kumimoji="0" lang="en-GB" sz="1800" b="0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.215 </a:t>
                </a:r>
              </a:p>
              <a:p>
                <a:endParaRPr lang="en-GB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F563577-BF8A-ECC7-48E1-2D36D2167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257800"/>
                <a:ext cx="10439400" cy="646331"/>
              </a:xfrm>
              <a:prstGeom prst="rect">
                <a:avLst/>
              </a:prstGeom>
              <a:blipFill>
                <a:blip r:embed="rId3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7405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FE1B-7FB3-B436-1DEF-EF25E14B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46F48351-4052-F6CF-647C-E5C5DF017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Ensemble methods - Bagging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257A7A4-DF1B-649E-EA7A-F2C593B3E444}"/>
              </a:ext>
            </a:extLst>
          </p:cNvPr>
          <p:cNvSpPr txBox="1"/>
          <p:nvPr/>
        </p:nvSpPr>
        <p:spPr>
          <a:xfrm>
            <a:off x="762000" y="1490008"/>
            <a:ext cx="49614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residual analysis shows better results compared to previous tree-based models.</a:t>
            </a:r>
          </a:p>
          <a:p>
            <a:pPr marL="0" indent="0" algn="just">
              <a:buNone/>
            </a:pP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Bagging </a:t>
            </a:r>
            <a:r>
              <a:rPr kumimoji="0" lang="en-GB" sz="24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MSE</a:t>
            </a:r>
            <a:r>
              <a: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132.252</a:t>
            </a:r>
          </a:p>
          <a:p>
            <a:pPr marL="0" indent="0" algn="just">
              <a:buNone/>
            </a:pPr>
            <a:r>
              <a: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Bagging </a:t>
            </a:r>
            <a:r>
              <a:rPr kumimoji="0" lang="en-GB" sz="24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RMSE</a:t>
            </a:r>
            <a:r>
              <a: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11.500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E5F5393-4011-9E8C-FC6A-7589BA826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44C1659-6A59-2125-B90C-8EC883077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415" y="1371600"/>
            <a:ext cx="5562652" cy="360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227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B8CBB-3691-FF79-A307-DC27AAF05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8631153-E8F8-7C82-A110-C3C3C818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Ensemble methods - Random forest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BC4BE29-21BE-4907-E7AF-663EF9877D27}"/>
              </a:ext>
            </a:extLst>
          </p:cNvPr>
          <p:cNvSpPr txBox="1"/>
          <p:nvPr/>
        </p:nvSpPr>
        <p:spPr>
          <a:xfrm>
            <a:off x="6705600" y="1641626"/>
            <a:ext cx="457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Using Random Forest, we select a random subset of features at each split, rather than considering all features.</a:t>
            </a:r>
          </a:p>
          <a:p>
            <a:pPr marL="0" indent="0" algn="just">
              <a:buNone/>
            </a:pP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 Forest </a:t>
            </a:r>
            <a:r>
              <a:rPr kumimoji="0" lang="en-GB" sz="24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MSE</a:t>
            </a:r>
            <a:r>
              <a: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131.571</a:t>
            </a:r>
          </a:p>
          <a:p>
            <a:pPr marL="0" indent="0" algn="just">
              <a:buNone/>
            </a:pPr>
            <a:r>
              <a: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 Forest </a:t>
            </a:r>
            <a:r>
              <a:rPr kumimoji="0" lang="en-GB" sz="24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RMSE</a:t>
            </a:r>
            <a:r>
              <a: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11.470 </a:t>
            </a:r>
          </a:p>
          <a:p>
            <a:pPr marL="0" indent="0" algn="just">
              <a:buNone/>
            </a:pP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5A96B43-E27E-D699-9AD3-47494C1C4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F15BE02-79AF-BF9B-4E4B-1FF62A64E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06252"/>
            <a:ext cx="5880545" cy="384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95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910D0-0E07-6273-BFC2-E426FADD8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6AF636C1-C87D-FC2D-5A2B-203E5F22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Ensemble methods - Boosting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851D018-C200-2A0E-6D85-EC61728FE771}"/>
              </a:ext>
            </a:extLst>
          </p:cNvPr>
          <p:cNvSpPr txBox="1"/>
          <p:nvPr/>
        </p:nvSpPr>
        <p:spPr>
          <a:xfrm>
            <a:off x="762000" y="1524000"/>
            <a:ext cx="4038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GB" sz="2400" noProof="0" dirty="0"/>
              <a:t>Based on the results, it appears that Boosting is the most effective tree-based method.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Boosting </a:t>
            </a:r>
            <a:r>
              <a:rPr kumimoji="0" lang="en-GB" sz="24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MSE</a:t>
            </a:r>
            <a:r>
              <a: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122.121</a:t>
            </a:r>
          </a:p>
          <a:p>
            <a:pPr marL="0" indent="0" algn="just">
              <a:buNone/>
            </a:pPr>
            <a:r>
              <a: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Boosting </a:t>
            </a:r>
            <a:r>
              <a:rPr kumimoji="0" lang="en-GB" sz="24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RMSE</a:t>
            </a:r>
            <a:r>
              <a: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11.051 </a:t>
            </a:r>
          </a:p>
          <a:p>
            <a:pPr marL="0" indent="0" algn="just">
              <a:buNone/>
            </a:pPr>
            <a:endParaRPr lang="en-GB" sz="2400" noProof="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028EC0D-AB44-FF58-506D-78272BF06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D939428-DE30-1A93-EF44-7583EC4CB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550" y="1371600"/>
            <a:ext cx="639305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299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129D2-41DB-370C-696A-885EBB988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781A061B-8E29-0E48-C4F3-341C37C9B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Ensemble methods – feature importance</a:t>
            </a:r>
            <a:endParaRPr lang="en-GB" noProof="0" dirty="0">
              <a:latin typeface="Arial Black" panose="020B0A040201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3699F45-AF9C-B20E-08D9-A930222FEC8D}"/>
              </a:ext>
            </a:extLst>
          </p:cNvPr>
          <p:cNvSpPr txBox="1"/>
          <p:nvPr/>
        </p:nvSpPr>
        <p:spPr>
          <a:xfrm>
            <a:off x="762000" y="1295400"/>
            <a:ext cx="10439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GB" sz="2400" noProof="0" dirty="0"/>
              <a:t>The order and magnitude of feature importance </a:t>
            </a:r>
            <a:r>
              <a:rPr lang="en-GB" sz="2400" dirty="0"/>
              <a:t>is</a:t>
            </a:r>
            <a:r>
              <a:rPr lang="en-GB" sz="2400" noProof="0" dirty="0"/>
              <a:t> almost the same for all three methods used.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B0FD983-BDA9-603E-B45F-36BF0A0F9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magine 2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212E78E2-5D9C-E557-5592-9DA699629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/>
          <a:stretch>
            <a:fillRect/>
          </a:stretch>
        </p:blipFill>
        <p:spPr>
          <a:xfrm>
            <a:off x="1562100" y="2209800"/>
            <a:ext cx="9067800" cy="381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8002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5B9A6-3D33-89C1-A3BC-8B3173BA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91B53A26-954D-5665-4314-1B7B139F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Conclusions – linear regression vs trees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4211571-2A8B-08C8-873F-663204679809}"/>
              </a:ext>
            </a:extLst>
          </p:cNvPr>
          <p:cNvSpPr txBox="1"/>
          <p:nvPr/>
        </p:nvSpPr>
        <p:spPr>
          <a:xfrm>
            <a:off x="762000" y="1641626"/>
            <a:ext cx="1051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Overall, regression trees models have worse performances compared to any regression model in this analysis, at least in terms of prediction.</a:t>
            </a:r>
          </a:p>
          <a:p>
            <a:pPr marL="0" indent="0">
              <a:buNone/>
            </a:pP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This might be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due to the characteristics of the dataset: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it is composed of generated data, perhaps using a linear regression model like the one utilized in this analysis.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9AA93DE-1B64-D584-B643-3E1EDA134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128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3F7C4-4A7F-C8E7-6B10-3B7FDF6CD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CA8962C8-A999-AD6C-DB00-F5E880701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Conclusions - overall best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4DA1385C-5543-1F5D-1EC4-BC78A7B81FBA}"/>
                  </a:ext>
                </a:extLst>
              </p:cNvPr>
              <p:cNvSpPr txBox="1"/>
              <p:nvPr/>
            </p:nvSpPr>
            <p:spPr>
              <a:xfrm>
                <a:off x="762000" y="1641626"/>
                <a:ext cx="5562600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best statistical model for prediction:</a:t>
                </a:r>
              </a:p>
              <a:p>
                <a:pPr marL="0" indent="0">
                  <a:buNone/>
                </a:pPr>
                <a:r>
                  <a:rPr lang="en-GB" sz="2400" b="1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regression model</a:t>
                </a: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10 – fold cross validation yields:</a:t>
                </a:r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noProof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GB" sz="2400" b="0" i="1" noProof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p>
                        <m:r>
                          <a:rPr lang="en-GB" sz="2400" b="0" i="1" noProof="0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0" lang="en-GB" sz="2400" b="0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: 0.794</a:t>
                </a:r>
                <a:endParaRPr lang="en-GB" sz="24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kumimoji="0" lang="en-GB" sz="2400" b="0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MSE: </a:t>
                </a: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89.613</a:t>
                </a:r>
              </a:p>
              <a:p>
                <a:pPr marL="0" indent="0">
                  <a:buNone/>
                </a:pPr>
                <a:r>
                  <a:rPr kumimoji="0" lang="en-GB" sz="2400" b="0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RMSE: </a:t>
                </a:r>
                <a:r>
                  <a:rPr kumimoji="0" lang="en-GB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9.466</a:t>
                </a:r>
              </a:p>
              <a:p>
                <a:pPr marL="0" indent="0">
                  <a:buNone/>
                </a:pPr>
                <a:endParaRPr lang="en-GB" sz="24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4DA1385C-5543-1F5D-1EC4-BC78A7B81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41626"/>
                <a:ext cx="5562600" cy="3046988"/>
              </a:xfrm>
              <a:prstGeom prst="rect">
                <a:avLst/>
              </a:prstGeom>
              <a:blipFill>
                <a:blip r:embed="rId2"/>
                <a:stretch>
                  <a:fillRect l="-1643" t="-1400" r="-15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1">
            <a:extLst>
              <a:ext uri="{FF2B5EF4-FFF2-40B4-BE49-F238E27FC236}">
                <a16:creationId xmlns:a16="http://schemas.microsoft.com/office/drawing/2014/main" id="{A95EC8D4-42E7-3603-612D-A70F0B923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magine 2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3A515C15-37BA-1A65-7F06-20018EE38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242086"/>
            <a:ext cx="5076662" cy="457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4673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4220F-9362-12F0-5A4D-D936B65D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BF570515-FD50-E8DD-AC5D-1FF228BC9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Conclusions - overall best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C3D4CAD-A722-5758-B87F-0E9A319FBBCA}"/>
                  </a:ext>
                </a:extLst>
              </p:cNvPr>
              <p:cNvSpPr txBox="1"/>
              <p:nvPr/>
            </p:nvSpPr>
            <p:spPr>
              <a:xfrm>
                <a:off x="762001" y="1641626"/>
                <a:ext cx="48768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Using the full dataset for training, </a:t>
                </a:r>
                <a:r>
                  <a:rPr lang="en-GB" sz="24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confidence interval </a:t>
                </a: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 </a:t>
                </a:r>
                <a:r>
                  <a:rPr lang="el-GR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α</a:t>
                </a:r>
                <a:r>
                  <a:rPr lang="it-IT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95% </a:t>
                </a:r>
              </a:p>
              <a:p>
                <a:pPr marL="0" indent="0" algn="just">
                  <a:buNone/>
                </a:pPr>
                <a:r>
                  <a:rPr lang="it-IT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 new data is </a:t>
                </a:r>
                <a14:m>
                  <m:oMath xmlns:m="http://schemas.openxmlformats.org/officeDocument/2006/math">
                    <m:r>
                      <a:rPr lang="it-IT" sz="240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≈±</m:t>
                    </m:r>
                    <m:r>
                      <a:rPr lang="it-IT" sz="24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it-IT" sz="24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minutes.</a:t>
                </a:r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8C3D4CAD-A722-5758-B87F-0E9A319FB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1" y="1641626"/>
                <a:ext cx="4876800" cy="1200329"/>
              </a:xfrm>
              <a:prstGeom prst="rect">
                <a:avLst/>
              </a:prstGeom>
              <a:blipFill>
                <a:blip r:embed="rId2"/>
                <a:stretch>
                  <a:fillRect l="-1875" t="-3553" r="-1875" b="-1116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1">
            <a:extLst>
              <a:ext uri="{FF2B5EF4-FFF2-40B4-BE49-F238E27FC236}">
                <a16:creationId xmlns:a16="http://schemas.microsoft.com/office/drawing/2014/main" id="{7B234E03-C6FB-96B7-32EA-F0771052B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magine 2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A9F471B2-AF16-165D-2906-B277BBCA2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799" y="1641626"/>
            <a:ext cx="4760171" cy="414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2084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F2CD8-3124-5F0B-7388-8C3EDBE7E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00B149EC-FAEB-7504-F1F5-C3B9378B7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515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Bibliography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414CC6C-7F7E-6E3E-A6F3-69CD71DE8899}"/>
              </a:ext>
            </a:extLst>
          </p:cNvPr>
          <p:cNvSpPr txBox="1"/>
          <p:nvPr/>
        </p:nvSpPr>
        <p:spPr>
          <a:xfrm>
            <a:off x="762000" y="1641626"/>
            <a:ext cx="1051559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Ahuja, Chandra, Lord, and Peens. Ordering in: The rapid evolution of food delivery, 2021. McKinsey &amp; Company.</a:t>
            </a: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at: </a:t>
            </a:r>
            <a:r>
              <a:rPr lang="en-GB" sz="1600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https://www.mckinsey.com/industries/technology-media-and-telecommunications/our-insights/ordering-in-the-rapid-evolution-of-food-delivery. </a:t>
            </a:r>
          </a:p>
          <a:p>
            <a:pPr algn="just"/>
            <a:endParaRPr lang="en-GB" sz="1600" u="sng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Kuznetz. Food Delivery Time Prediction, 2024. Kaggle.</a:t>
            </a: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at: </a:t>
            </a:r>
            <a:r>
              <a:rPr lang="en-GB" sz="1600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https://www.kaggle.com/datasets/denkuznetz/food-delivery-time-prediction</a:t>
            </a:r>
            <a:r>
              <a:rPr lang="en-GB" sz="1600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GB" sz="1600" u="sng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 è la situazione del food delivery in Italia?, 2021, iBicocca. </a:t>
            </a: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at: </a:t>
            </a:r>
            <a:r>
              <a:rPr lang="en-GB" sz="1600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https://ibicocca.unimib.it/qual-e-la-situazione-del-food-delivery-in-italia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GB" sz="16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Gotti and Mazzoleni. Food Delivery Time Prediction. </a:t>
            </a: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at: </a:t>
            </a:r>
            <a:r>
              <a:rPr lang="en-GB" sz="1600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https://github.com/DanieleGotti/Food_Delivery_Time_Prediction</a:t>
            </a:r>
            <a:r>
              <a:rPr lang="en-GB" sz="1600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DC19EB7-D210-7796-949D-31691B0C6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658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E75B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1382</Words>
  <Application>Microsoft Office PowerPoint</Application>
  <PresentationFormat>Widescreen</PresentationFormat>
  <Paragraphs>188</Paragraphs>
  <Slides>44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44</vt:i4>
      </vt:variant>
    </vt:vector>
  </HeadingPairs>
  <TitlesOfParts>
    <vt:vector size="51" baseType="lpstr">
      <vt:lpstr>Aptos</vt:lpstr>
      <vt:lpstr>Arial</vt:lpstr>
      <vt:lpstr>Arial Black</vt:lpstr>
      <vt:lpstr>Cambria Math</vt:lpstr>
      <vt:lpstr>Franklin Gothic Medium</vt:lpstr>
      <vt:lpstr>Trebuchet MS</vt:lpstr>
      <vt:lpstr>Office Theme</vt:lpstr>
      <vt:lpstr>Statistical Learning: Prediction of food delivery times</vt:lpstr>
      <vt:lpstr>Problem setting – food delivery</vt:lpstr>
      <vt:lpstr>Problem setting – food delivery</vt:lpstr>
      <vt:lpstr>Objective of this analysis</vt:lpstr>
      <vt:lpstr>Selected dataset: Food Delivery Time Prediction</vt:lpstr>
      <vt:lpstr>Dataset Variables</vt:lpstr>
      <vt:lpstr>Preliminary analysis</vt:lpstr>
      <vt:lpstr>Data Distribution - numerical variables</vt:lpstr>
      <vt:lpstr>Data Distribution - numerical variables</vt:lpstr>
      <vt:lpstr>Data Distribution – categorical variables</vt:lpstr>
      <vt:lpstr>Data Distribution - categorical variables</vt:lpstr>
      <vt:lpstr>Evaluating correlation</vt:lpstr>
      <vt:lpstr>Simple linear regression - Objective</vt:lpstr>
      <vt:lpstr>Simple linear regression - Scatterplots</vt:lpstr>
      <vt:lpstr>Simple linear regression - Residuals</vt:lpstr>
      <vt:lpstr>Simple linear regression - Leverage</vt:lpstr>
      <vt:lpstr>Multiple linear regression - using numerical predictors only</vt:lpstr>
      <vt:lpstr>Multiple linear regression - categorical regressors</vt:lpstr>
      <vt:lpstr>Multiple linear regression - full model evaluation</vt:lpstr>
      <vt:lpstr>Multiple linear regression - refined model</vt:lpstr>
      <vt:lpstr>Multiple linear regression - refined model</vt:lpstr>
      <vt:lpstr>Multiple linear regression - log transformation</vt:lpstr>
      <vt:lpstr>Multiple linear regression - square root transformation</vt:lpstr>
      <vt:lpstr>Multiple linear regression - box cox transformation</vt:lpstr>
      <vt:lpstr>Cross validation</vt:lpstr>
      <vt:lpstr>Shrinkage methods</vt:lpstr>
      <vt:lpstr>Presentazione standard di PowerPoint</vt:lpstr>
      <vt:lpstr>Ridge regression</vt:lpstr>
      <vt:lpstr>Ridge regression</vt:lpstr>
      <vt:lpstr>Lasso regression</vt:lpstr>
      <vt:lpstr>Lasso regression</vt:lpstr>
      <vt:lpstr>Lasso regression</vt:lpstr>
      <vt:lpstr>Decision trees</vt:lpstr>
      <vt:lpstr>Regression tree – first attempt</vt:lpstr>
      <vt:lpstr>Regression tree – best depth</vt:lpstr>
      <vt:lpstr>Regression tree – pruned tree</vt:lpstr>
      <vt:lpstr>Ensemble methods - Bagging</vt:lpstr>
      <vt:lpstr>Ensemble methods - Random forest</vt:lpstr>
      <vt:lpstr>Ensemble methods - Boosting</vt:lpstr>
      <vt:lpstr>Ensemble methods – feature importance</vt:lpstr>
      <vt:lpstr>Conclusions – linear regression vs trees</vt:lpstr>
      <vt:lpstr>Conclusions - overall best model</vt:lpstr>
      <vt:lpstr>Conclusions - overall best model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Gabriele Mazzoleni</dc:creator>
  <cp:lastModifiedBy>GABRIELE MAZZOLENI</cp:lastModifiedBy>
  <cp:revision>134</cp:revision>
  <dcterms:created xsi:type="dcterms:W3CDTF">2025-06-12T18:24:46Z</dcterms:created>
  <dcterms:modified xsi:type="dcterms:W3CDTF">2025-06-22T09:53:19Z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LastSaved">
    <vt:filetime>2025-06-12T00:00:00Z</vt:filetime>
  </property>
  <property fmtid="{D5CDD505-2E9C-101B-9397-08002B2CF9AE}" pid="4" name="Producer">
    <vt:lpwstr>macOS Versione 15.3.1 (Build 24D70) Quartz PDFContext</vt:lpwstr>
  </property>
</Properties>
</file>